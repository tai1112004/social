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Medium"/>
      <p:regular r:id="rId201315"/>
    </p:embeddedFont>
    <p:embeddedFont>
      <p:font typeface="DM Sans Bold"/>
      <p:regular r:id="rId201316"/>
    </p:embeddedFont>
    <p:embeddedFont>
      <p:font typeface="Inter Medium"/>
      <p:regular r:id="rId201317"/>
    </p:embeddedFont>
    <p:embeddedFont>
      <p:font typeface="Inter Bold"/>
      <p:regular r:id="rId201318"/>
    </p:embeddedFont>
    <p:embeddedFont>
      <p:font typeface="Inter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>
              <a:alpha val="60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5.png"/><Relationship Id="rId8" Type="http://schemas.openxmlformats.org/officeDocument/2006/relationships/image" Target="../media/image-2-6.svg"/><Relationship Id="rId9" Type="http://schemas.openxmlformats.org/officeDocument/2006/relationships/image" Target="../media/image-2-5.png"/><Relationship Id="rId10" Type="http://schemas.openxmlformats.org/officeDocument/2006/relationships/image" Target="../media/image-2-6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3.png"/><Relationship Id="rId6" Type="http://schemas.openxmlformats.org/officeDocument/2006/relationships/image" Target="../media/image-11-4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image" Target="../media/image-12-5.svg"/><Relationship Id="rId6" Type="http://schemas.openxmlformats.org/officeDocument/2006/relationships/image" Target="../media/image-12-4.png"/><Relationship Id="rId7" Type="http://schemas.openxmlformats.org/officeDocument/2006/relationships/image" Target="../media/image-12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1.png"/><Relationship Id="rId6" Type="http://schemas.openxmlformats.org/officeDocument/2006/relationships/image" Target="../media/image-14-2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1.png"/><Relationship Id="rId10" Type="http://schemas.openxmlformats.org/officeDocument/2006/relationships/image" Target="../media/image-14-2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svg"/><Relationship Id="rId17" Type="http://schemas.openxmlformats.org/officeDocument/2006/relationships/image" Target="../media/image-14-13.png"/><Relationship Id="rId18" Type="http://schemas.openxmlformats.org/officeDocument/2006/relationships/image" Target="../media/image-14-14.sv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1.png"/><Relationship Id="rId6" Type="http://schemas.openxmlformats.org/officeDocument/2006/relationships/image" Target="../media/image-15-2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1.png"/><Relationship Id="rId10" Type="http://schemas.openxmlformats.org/officeDocument/2006/relationships/image" Target="../media/image-15-2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.png"/><Relationship Id="rId14" Type="http://schemas.openxmlformats.org/officeDocument/2006/relationships/image" Target="../media/image-15-2.sv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1.png"/><Relationship Id="rId6" Type="http://schemas.openxmlformats.org/officeDocument/2006/relationships/image" Target="../media/image-16-2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1.png"/><Relationship Id="rId10" Type="http://schemas.openxmlformats.org/officeDocument/2006/relationships/image" Target="../media/image-16-2.sv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image" Target="../media/image-16-1.png"/><Relationship Id="rId14" Type="http://schemas.openxmlformats.org/officeDocument/2006/relationships/image" Target="../media/image-16-2.sv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34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Xây dựng hệ thống mạng xã hội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2207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Core &amp; Reliable Realtime Messaging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537123"/>
            <a:ext cx="10868745" cy="3267373"/>
          </a:xfrm>
          <a:prstGeom prst="roundRect">
            <a:avLst>
              <a:gd name="adj" fmla="val 868"/>
            </a:avLst>
          </a:prstGeom>
          <a:solidFill>
            <a:srgbClr val="4C5052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537123"/>
            <a:ext cx="5434373" cy="1089124"/>
          </a:xfrm>
          <a:custGeom>
            <a:avLst/>
            <a:gdLst/>
            <a:ahLst/>
            <a:cxnLst/>
            <a:rect l="l" t="t" r="r" b="b"/>
            <a:pathLst>
              <a:path w="5434373" h="1089124">
                <a:moveTo>
                  <a:pt x="23627" y="0"/>
                </a:moveTo>
                <a:lnTo>
                  <a:pt x="5434373" y="0"/>
                </a:lnTo>
                <a:lnTo>
                  <a:pt x="5434373" y="1089124"/>
                </a:lnTo>
                <a:lnTo>
                  <a:pt x="0" y="1089124"/>
                </a:lnTo>
                <a:lnTo>
                  <a:pt x="0" y="23628"/>
                </a:lnTo>
                <a:arcTo hR="23628" wR="23627" stAng="10800000" swAng="5400000"/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2726134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Backend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3134816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48" y="2537123"/>
            <a:ext cx="5434373" cy="1089124"/>
          </a:xfrm>
          <a:custGeom>
            <a:avLst/>
            <a:gdLst/>
            <a:ahLst/>
            <a:cxnLst/>
            <a:rect l="l" t="t" r="r" b="b"/>
            <a:pathLst>
              <a:path w="5434373" h="1089124">
                <a:moveTo>
                  <a:pt x="0" y="0"/>
                </a:moveTo>
                <a:lnTo>
                  <a:pt x="5410745" y="0"/>
                </a:lnTo>
                <a:arcTo hR="23628" wR="23627" stAng="16200000" swAng="5400000"/>
                <a:lnTo>
                  <a:pt x="5434373" y="1089124"/>
                </a:lnTo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2537123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65696B"/>
          </a:solidFill>
          <a:ln/>
        </p:spPr>
      </p:sp>
      <p:sp>
        <p:nvSpPr>
          <p:cNvPr id="10" name="Text 8"/>
          <p:cNvSpPr/>
          <p:nvPr/>
        </p:nvSpPr>
        <p:spPr>
          <a:xfrm>
            <a:off x="6284854" y="2726134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Frontend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284854" y="3134816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626247"/>
            <a:ext cx="5434373" cy="1089124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3" name="Shape 11"/>
          <p:cNvSpPr/>
          <p:nvPr/>
        </p:nvSpPr>
        <p:spPr>
          <a:xfrm>
            <a:off x="661475" y="3626247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14" name="Text 12"/>
          <p:cNvSpPr/>
          <p:nvPr/>
        </p:nvSpPr>
        <p:spPr>
          <a:xfrm>
            <a:off x="850482" y="3815259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Realtime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50482" y="4223941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WebSocket / STOMP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5848" y="3626247"/>
            <a:ext cx="5434373" cy="1089124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3626247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65696B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3626247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19" name="Text 17"/>
          <p:cNvSpPr/>
          <p:nvPr/>
        </p:nvSpPr>
        <p:spPr>
          <a:xfrm>
            <a:off x="6284854" y="3815259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Auth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284854" y="4223941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61475" y="4715371"/>
            <a:ext cx="5434373" cy="1089124"/>
          </a:xfrm>
          <a:custGeom>
            <a:avLst/>
            <a:gdLst/>
            <a:ahLst/>
            <a:cxnLst/>
            <a:rect l="l" t="t" r="r" b="b"/>
            <a:pathLst>
              <a:path w="5434373" h="1089124">
                <a:moveTo>
                  <a:pt x="0" y="0"/>
                </a:moveTo>
                <a:lnTo>
                  <a:pt x="5434373" y="0"/>
                </a:lnTo>
                <a:lnTo>
                  <a:pt x="5434373" y="1089124"/>
                </a:lnTo>
                <a:lnTo>
                  <a:pt x="23627" y="1089124"/>
                </a:lnTo>
                <a:arcTo hR="23628" wR="23627" stAng="5400000" swAng="5400000"/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22" name="Shape 20"/>
          <p:cNvSpPr/>
          <p:nvPr/>
        </p:nvSpPr>
        <p:spPr>
          <a:xfrm>
            <a:off x="661475" y="4715371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23" name="Text 21"/>
          <p:cNvSpPr/>
          <p:nvPr/>
        </p:nvSpPr>
        <p:spPr>
          <a:xfrm>
            <a:off x="850482" y="4904383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Database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850482" y="5313065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095848" y="4715371"/>
            <a:ext cx="5434373" cy="1089124"/>
          </a:xfrm>
          <a:custGeom>
            <a:avLst/>
            <a:gdLst/>
            <a:ahLst/>
            <a:cxnLst/>
            <a:rect l="l" t="t" r="r" b="b"/>
            <a:pathLst>
              <a:path w="5434373" h="1089124">
                <a:moveTo>
                  <a:pt x="0" y="0"/>
                </a:moveTo>
                <a:lnTo>
                  <a:pt x="5434373" y="0"/>
                </a:lnTo>
                <a:lnTo>
                  <a:pt x="5434373" y="1065496"/>
                </a:lnTo>
                <a:arcTo hR="23628" wR="23627" stAng="0" swAng="5400000"/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5848" y="4715371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65696B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4715371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28" name="Text 26"/>
          <p:cNvSpPr/>
          <p:nvPr/>
        </p:nvSpPr>
        <p:spPr>
          <a:xfrm>
            <a:off x="6284854" y="4904383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Presence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6284854" y="5313065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59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Phạm vi dự án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52712"/>
            <a:ext cx="2507394" cy="10193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067123"/>
            <a:ext cx="197698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Authentication &amp; User Profile</a:t>
            </a:r>
            <a:endParaRPr lang="en-US" sz="1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7875" y="1852712"/>
            <a:ext cx="2507394" cy="101937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73879" y="2067123"/>
            <a:ext cx="197698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Friend / Social Relationship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061097"/>
            <a:ext cx="2507394" cy="13146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7479" y="3275509"/>
            <a:ext cx="197698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Post / Feed / Comment / Reaction</a:t>
            </a:r>
            <a:endParaRPr lang="en-US" sz="1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57875" y="3061097"/>
            <a:ext cx="2507394" cy="13146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673879" y="3275509"/>
            <a:ext cx="197698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Story, Search, Notification</a:t>
            </a:r>
            <a:endParaRPr lang="en-US" sz="18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564757"/>
            <a:ext cx="2507394" cy="131464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77479" y="4779169"/>
            <a:ext cx="197698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Report / Moderation / Admin</a:t>
            </a:r>
            <a:endParaRPr lang="en-US" sz="1850" dirty="0"/>
          </a:p>
        </p:txBody>
      </p:sp>
      <p:sp>
        <p:nvSpPr>
          <p:cNvPr id="13" name="Shape 6"/>
          <p:cNvSpPr/>
          <p:nvPr/>
        </p:nvSpPr>
        <p:spPr>
          <a:xfrm>
            <a:off x="6196651" y="1640086"/>
            <a:ext cx="5476043" cy="4451945"/>
          </a:xfrm>
          <a:prstGeom prst="roundRect">
            <a:avLst>
              <a:gd name="adj" fmla="val 637"/>
            </a:avLst>
          </a:prstGeom>
          <a:solidFill>
            <a:srgbClr val="0066FF"/>
          </a:solidFill>
          <a:ln/>
        </p:spPr>
      </p:sp>
      <p:sp>
        <p:nvSpPr>
          <p:cNvPr id="14" name="Text 7"/>
          <p:cNvSpPr/>
          <p:nvPr/>
        </p:nvSpPr>
        <p:spPr>
          <a:xfrm>
            <a:off x="6385658" y="1829098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Technical Focus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6385658" y="2313384"/>
            <a:ext cx="5098029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Reliable Realtime Chat</a:t>
            </a:r>
            <a:endParaRPr lang="en-US" sz="5100" dirty="0"/>
          </a:p>
        </p:txBody>
      </p:sp>
      <p:sp>
        <p:nvSpPr>
          <p:cNvPr id="16" name="Text 9"/>
          <p:cNvSpPr/>
          <p:nvPr/>
        </p:nvSpPr>
        <p:spPr>
          <a:xfrm>
            <a:off x="6385658" y="4132759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Trọng tâm kỹ thuật chiếm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65–70%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nội dung dự án — không phải demo đơn giản, mà là hệ thống đáng tin cậy.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266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Tại sao Chat Realtime không chỉ là WebSocket?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6579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Demo đơn giản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50083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 → WebSocket → User B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Hoạt động tốt trong môi trường lý tưởng — hai client luôn online, không mất kết nối.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176579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Hệ thống thực tế phải xử lý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332776" y="2273697"/>
            <a:ext cx="2507394" cy="673298"/>
          </a:xfrm>
          <a:prstGeom prst="roundRect">
            <a:avLst>
              <a:gd name="adj" fmla="val 4211"/>
            </a:avLst>
          </a:prstGeom>
          <a:solidFill>
            <a:srgbClr val="4C5052"/>
          </a:solidFill>
          <a:ln/>
        </p:spPr>
      </p:sp>
      <p:sp>
        <p:nvSpPr>
          <p:cNvPr id="7" name="Text 5"/>
          <p:cNvSpPr/>
          <p:nvPr/>
        </p:nvSpPr>
        <p:spPr>
          <a:xfrm>
            <a:off x="6521783" y="2462709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Delivery State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9029176" y="2273697"/>
            <a:ext cx="2507394" cy="673298"/>
          </a:xfrm>
          <a:prstGeom prst="roundRect">
            <a:avLst>
              <a:gd name="adj" fmla="val 4211"/>
            </a:avLst>
          </a:prstGeom>
          <a:solidFill>
            <a:srgbClr val="4C5052"/>
          </a:solidFill>
          <a:ln/>
        </p:spPr>
      </p:sp>
      <p:sp>
        <p:nvSpPr>
          <p:cNvPr id="9" name="Text 7"/>
          <p:cNvSpPr/>
          <p:nvPr/>
        </p:nvSpPr>
        <p:spPr>
          <a:xfrm>
            <a:off x="9218183" y="2462709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Offline User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6332776" y="3136007"/>
            <a:ext cx="2507394" cy="673298"/>
          </a:xfrm>
          <a:prstGeom prst="roundRect">
            <a:avLst>
              <a:gd name="adj" fmla="val 4211"/>
            </a:avLst>
          </a:prstGeom>
          <a:solidFill>
            <a:srgbClr val="4C5052"/>
          </a:solidFill>
          <a:ln/>
        </p:spPr>
      </p:sp>
      <p:sp>
        <p:nvSpPr>
          <p:cNvPr id="11" name="Text 9"/>
          <p:cNvSpPr/>
          <p:nvPr/>
        </p:nvSpPr>
        <p:spPr>
          <a:xfrm>
            <a:off x="6521783" y="3325019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Reconnect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9029176" y="3136007"/>
            <a:ext cx="2507394" cy="673298"/>
          </a:xfrm>
          <a:prstGeom prst="roundRect">
            <a:avLst>
              <a:gd name="adj" fmla="val 4211"/>
            </a:avLst>
          </a:prstGeom>
          <a:solidFill>
            <a:srgbClr val="4C5052"/>
          </a:solidFill>
          <a:ln/>
        </p:spPr>
      </p:sp>
      <p:sp>
        <p:nvSpPr>
          <p:cNvPr id="13" name="Text 11"/>
          <p:cNvSpPr/>
          <p:nvPr/>
        </p:nvSpPr>
        <p:spPr>
          <a:xfrm>
            <a:off x="9218183" y="3325019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Missing Messages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6332776" y="3998317"/>
            <a:ext cx="2507394" cy="673298"/>
          </a:xfrm>
          <a:prstGeom prst="roundRect">
            <a:avLst>
              <a:gd name="adj" fmla="val 4211"/>
            </a:avLst>
          </a:prstGeom>
          <a:solidFill>
            <a:srgbClr val="4C5052"/>
          </a:solidFill>
          <a:ln/>
        </p:spPr>
      </p:sp>
      <p:sp>
        <p:nvSpPr>
          <p:cNvPr id="15" name="Text 13"/>
          <p:cNvSpPr/>
          <p:nvPr/>
        </p:nvSpPr>
        <p:spPr>
          <a:xfrm>
            <a:off x="6521783" y="4187329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Duplicate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029176" y="3998317"/>
            <a:ext cx="2507394" cy="673298"/>
          </a:xfrm>
          <a:prstGeom prst="roundRect">
            <a:avLst>
              <a:gd name="adj" fmla="val 4211"/>
            </a:avLst>
          </a:prstGeom>
          <a:solidFill>
            <a:srgbClr val="4C5052"/>
          </a:solidFill>
          <a:ln/>
        </p:spPr>
      </p:sp>
      <p:sp>
        <p:nvSpPr>
          <p:cNvPr id="17" name="Text 15"/>
          <p:cNvSpPr/>
          <p:nvPr/>
        </p:nvSpPr>
        <p:spPr>
          <a:xfrm>
            <a:off x="9218183" y="4187329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Ordering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661475" y="5096867"/>
            <a:ext cx="10868745" cy="1058366"/>
          </a:xfrm>
          <a:prstGeom prst="roundRect">
            <a:avLst>
              <a:gd name="adj" fmla="val 2679"/>
            </a:avLst>
          </a:prstGeom>
          <a:solidFill>
            <a:srgbClr val="4B3F02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364559"/>
            <a:ext cx="236234" cy="18901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75723" y="5333107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Realtime transport ≠ Reliable messaging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WebSocket chỉ là kênh truyền tải, không phải giải pháp messaging hoàn chỉnh.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Kiến trúc Chat Realtime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09538"/>
            <a:ext cx="9753356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568877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REST API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61475" y="6744791"/>
            <a:ext cx="540480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History, sync, consistency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125315" y="6568877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WebSocket / STOMP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125315" y="6744791"/>
            <a:ext cx="5404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Realtime event delivery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61475" y="7072511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MySQL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61475" y="7248426"/>
            <a:ext cx="540480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of truth cho messages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125315" y="7072511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Redis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25315" y="7248426"/>
            <a:ext cx="5404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Presence &amp; session state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648775" y="6449020"/>
            <a:ext cx="5430206" cy="2540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3" name="Shape 10"/>
          <p:cNvSpPr/>
          <p:nvPr/>
        </p:nvSpPr>
        <p:spPr>
          <a:xfrm>
            <a:off x="6112615" y="6449020"/>
            <a:ext cx="5430305" cy="2540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4" name="Shape 11"/>
          <p:cNvSpPr/>
          <p:nvPr/>
        </p:nvSpPr>
        <p:spPr>
          <a:xfrm>
            <a:off x="648775" y="6952655"/>
            <a:ext cx="5430206" cy="2540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5" name="Shape 12"/>
          <p:cNvSpPr/>
          <p:nvPr/>
        </p:nvSpPr>
        <p:spPr>
          <a:xfrm>
            <a:off x="6112615" y="6952655"/>
            <a:ext cx="5430305" cy="25400"/>
          </a:xfrm>
          <a:prstGeom prst="rect">
            <a:avLst/>
          </a:prstGeom>
          <a:solidFill>
            <a:srgbClr val="AC9EF5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Vòng đời một tin nhắn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SENT ≠ DELIVERED ≠ SEEN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089498" y="1076027"/>
            <a:ext cx="12700" cy="5676205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5" name="Shape 3"/>
          <p:cNvSpPr/>
          <p:nvPr/>
        </p:nvSpPr>
        <p:spPr>
          <a:xfrm>
            <a:off x="5718776" y="1175941"/>
            <a:ext cx="283461" cy="127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6" name="Shape 4"/>
          <p:cNvSpPr/>
          <p:nvPr/>
        </p:nvSpPr>
        <p:spPr>
          <a:xfrm>
            <a:off x="5989537" y="1076027"/>
            <a:ext cx="212620" cy="212626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7" name="Text 5"/>
          <p:cNvSpPr/>
          <p:nvPr/>
        </p:nvSpPr>
        <p:spPr>
          <a:xfrm>
            <a:off x="6024957" y="1093688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1475" y="1108472"/>
            <a:ext cx="4961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A sends message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1475" y="1284387"/>
            <a:ext cx="4961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Nhập và gửi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189458" y="1648420"/>
            <a:ext cx="283461" cy="127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11" name="Shape 9"/>
          <p:cNvSpPr/>
          <p:nvPr/>
        </p:nvSpPr>
        <p:spPr>
          <a:xfrm>
            <a:off x="5989537" y="1548507"/>
            <a:ext cx="212620" cy="212626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2" name="Text 10"/>
          <p:cNvSpPr/>
          <p:nvPr/>
        </p:nvSpPr>
        <p:spPr>
          <a:xfrm>
            <a:off x="6024957" y="1566168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68315" y="1580952"/>
            <a:ext cx="4961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WebSocket / STOMP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68315" y="1756866"/>
            <a:ext cx="4961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Realtime channel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718776" y="2089845"/>
            <a:ext cx="283461" cy="127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537" y="1989931"/>
            <a:ext cx="212620" cy="212626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7" name="Text 15"/>
          <p:cNvSpPr/>
          <p:nvPr/>
        </p:nvSpPr>
        <p:spPr>
          <a:xfrm>
            <a:off x="6024957" y="2007592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1475" y="2022376"/>
            <a:ext cx="4961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Validate user &amp; conversation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1475" y="2198291"/>
            <a:ext cx="4961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access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189458" y="2531368"/>
            <a:ext cx="283461" cy="127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21" name="Shape 19"/>
          <p:cNvSpPr/>
          <p:nvPr/>
        </p:nvSpPr>
        <p:spPr>
          <a:xfrm>
            <a:off x="5989537" y="2431455"/>
            <a:ext cx="212620" cy="212626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22" name="Text 20"/>
          <p:cNvSpPr/>
          <p:nvPr/>
        </p:nvSpPr>
        <p:spPr>
          <a:xfrm>
            <a:off x="6024957" y="2449116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68315" y="2463899"/>
            <a:ext cx="4961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Persist to MySQL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68315" y="2639814"/>
            <a:ext cx="4961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message data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718776" y="2972891"/>
            <a:ext cx="283461" cy="127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26" name="Shape 24"/>
          <p:cNvSpPr/>
          <p:nvPr/>
        </p:nvSpPr>
        <p:spPr>
          <a:xfrm>
            <a:off x="5989537" y="2872978"/>
            <a:ext cx="212620" cy="212626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27" name="Text 25"/>
          <p:cNvSpPr/>
          <p:nvPr/>
        </p:nvSpPr>
        <p:spPr>
          <a:xfrm>
            <a:off x="6024957" y="2890639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1475" y="2905423"/>
            <a:ext cx="4961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1475" y="3081338"/>
            <a:ext cx="4961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saved successfully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189458" y="3414415"/>
            <a:ext cx="283461" cy="127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31" name="Shape 29"/>
          <p:cNvSpPr/>
          <p:nvPr/>
        </p:nvSpPr>
        <p:spPr>
          <a:xfrm>
            <a:off x="5989537" y="3314502"/>
            <a:ext cx="212620" cy="212626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32" name="Text 30"/>
          <p:cNvSpPr/>
          <p:nvPr/>
        </p:nvSpPr>
        <p:spPr>
          <a:xfrm>
            <a:off x="6024957" y="3332163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68315" y="3346946"/>
            <a:ext cx="4961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Realtime push event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68315" y="3522861"/>
            <a:ext cx="4961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Notify recipient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718776" y="3855938"/>
            <a:ext cx="283461" cy="127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36" name="Shape 34"/>
          <p:cNvSpPr/>
          <p:nvPr/>
        </p:nvSpPr>
        <p:spPr>
          <a:xfrm>
            <a:off x="5989537" y="3756025"/>
            <a:ext cx="212620" cy="212626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37" name="Text 35"/>
          <p:cNvSpPr/>
          <p:nvPr/>
        </p:nvSpPr>
        <p:spPr>
          <a:xfrm>
            <a:off x="6024957" y="3773686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1475" y="3788470"/>
            <a:ext cx="4961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 receives message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1475" y="3964384"/>
            <a:ext cx="4961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 appears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189458" y="4297462"/>
            <a:ext cx="283461" cy="127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41" name="Shape 39"/>
          <p:cNvSpPr/>
          <p:nvPr/>
        </p:nvSpPr>
        <p:spPr>
          <a:xfrm>
            <a:off x="5989537" y="4197548"/>
            <a:ext cx="212620" cy="212626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42" name="Text 40"/>
          <p:cNvSpPr/>
          <p:nvPr/>
        </p:nvSpPr>
        <p:spPr>
          <a:xfrm>
            <a:off x="6024957" y="4215209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68315" y="4229993"/>
            <a:ext cx="4961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DELIVERED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68315" y="4405908"/>
            <a:ext cx="4961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received it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718776" y="4738985"/>
            <a:ext cx="283461" cy="127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46" name="Shape 44"/>
          <p:cNvSpPr/>
          <p:nvPr/>
        </p:nvSpPr>
        <p:spPr>
          <a:xfrm>
            <a:off x="5989537" y="4639072"/>
            <a:ext cx="212620" cy="212626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47" name="Text 45"/>
          <p:cNvSpPr/>
          <p:nvPr/>
        </p:nvSpPr>
        <p:spPr>
          <a:xfrm>
            <a:off x="6024957" y="4656733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61475" y="4671516"/>
            <a:ext cx="4961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 opens conversation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1475" y="4847431"/>
            <a:ext cx="4961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the chat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189458" y="5180509"/>
            <a:ext cx="283461" cy="127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51" name="Shape 49"/>
          <p:cNvSpPr/>
          <p:nvPr/>
        </p:nvSpPr>
        <p:spPr>
          <a:xfrm>
            <a:off x="5989537" y="5080595"/>
            <a:ext cx="212620" cy="212626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52" name="Text 50"/>
          <p:cNvSpPr/>
          <p:nvPr/>
        </p:nvSpPr>
        <p:spPr>
          <a:xfrm>
            <a:off x="6024957" y="5098256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68315" y="5113040"/>
            <a:ext cx="4961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SEEN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68315" y="5288955"/>
            <a:ext cx="4961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 read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718776" y="5622032"/>
            <a:ext cx="283461" cy="127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56" name="Shape 54"/>
          <p:cNvSpPr/>
          <p:nvPr/>
        </p:nvSpPr>
        <p:spPr>
          <a:xfrm>
            <a:off x="5989537" y="5522119"/>
            <a:ext cx="212620" cy="212626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57" name="Text 55"/>
          <p:cNvSpPr/>
          <p:nvPr/>
        </p:nvSpPr>
        <p:spPr>
          <a:xfrm>
            <a:off x="6024957" y="5539780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11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61475" y="5554563"/>
            <a:ext cx="4961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Update message state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61475" y="5730478"/>
            <a:ext cx="4961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as read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189458" y="6063555"/>
            <a:ext cx="283461" cy="127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61" name="Shape 59"/>
          <p:cNvSpPr/>
          <p:nvPr/>
        </p:nvSpPr>
        <p:spPr>
          <a:xfrm>
            <a:off x="5989537" y="5963642"/>
            <a:ext cx="212620" cy="212626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62" name="Text 60"/>
          <p:cNvSpPr/>
          <p:nvPr/>
        </p:nvSpPr>
        <p:spPr>
          <a:xfrm>
            <a:off x="6024957" y="5981303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12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568315" y="5996087"/>
            <a:ext cx="4961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Notify User A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568315" y="6172002"/>
            <a:ext cx="4961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seen status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61475" y="6805315"/>
            <a:ext cx="10868745" cy="477143"/>
          </a:xfrm>
          <a:prstGeom prst="roundRect">
            <a:avLst>
              <a:gd name="adj" fmla="val 2971"/>
            </a:avLst>
          </a:prstGeom>
          <a:solidFill>
            <a:srgbClr val="1D0C74"/>
          </a:solidFill>
          <a:ln/>
        </p:spPr>
      </p:sp>
      <p:pic>
        <p:nvPicPr>
          <p:cNvPr id="6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929" y="6876157"/>
            <a:ext cx="118067" cy="94456"/>
          </a:xfrm>
          <a:prstGeom prst="rect">
            <a:avLst/>
          </a:prstGeom>
        </p:spPr>
      </p:pic>
      <p:sp>
        <p:nvSpPr>
          <p:cNvPr id="67" name="Text 64"/>
          <p:cNvSpPr/>
          <p:nvPr/>
        </p:nvSpPr>
        <p:spPr>
          <a:xfrm>
            <a:off x="968450" y="6876157"/>
            <a:ext cx="10467316" cy="340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 — Server received &amp; saved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— Recipient client received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SEEN — Recipient read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8920"/>
            <a:ext cx="629686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Offline: Message đi đâu?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61475" y="1537891"/>
            <a:ext cx="293233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Khi B offline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61475" y="2001639"/>
            <a:ext cx="398651" cy="398661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6" name="Text 3"/>
          <p:cNvSpPr/>
          <p:nvPr/>
        </p:nvSpPr>
        <p:spPr>
          <a:xfrm>
            <a:off x="727900" y="2034877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226214" y="2062460"/>
            <a:ext cx="236759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 gửi message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226214" y="2505472"/>
            <a:ext cx="236759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nhận request qua REST hoặc WebSocket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61475" y="3386931"/>
            <a:ext cx="398651" cy="398661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0" name="Text 7"/>
          <p:cNvSpPr/>
          <p:nvPr/>
        </p:nvSpPr>
        <p:spPr>
          <a:xfrm>
            <a:off x="727900" y="342017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1226214" y="3447752"/>
            <a:ext cx="2367598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Backend persist vào MySQL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26214" y="4167684"/>
            <a:ext cx="236759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Không phụ thuộc B có online hay không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61475" y="5049143"/>
            <a:ext cx="398651" cy="398661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4" name="Text 11"/>
          <p:cNvSpPr/>
          <p:nvPr/>
        </p:nvSpPr>
        <p:spPr>
          <a:xfrm>
            <a:off x="727900" y="5082381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226214" y="5109964"/>
            <a:ext cx="236759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Khi B reconnect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226214" y="5552976"/>
            <a:ext cx="236759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sync/history → nhận đầy đủ messages chưa có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032348" y="1537891"/>
            <a:ext cx="293233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Nguyên tắc thiết kế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298148" y="2151063"/>
            <a:ext cx="266653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WebSocket không phải nơi lưu message.</a:t>
            </a:r>
            <a:endParaRPr lang="en-US" sz="13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MySQL là source of truth.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032348" y="2001639"/>
            <a:ext cx="19050" cy="1122759"/>
          </a:xfrm>
          <a:prstGeom prst="roundRect">
            <a:avLst>
              <a:gd name="adj" fmla="val 49999"/>
            </a:avLst>
          </a:prstGeom>
          <a:solidFill>
            <a:srgbClr val="AC9EF5"/>
          </a:solidFill>
          <a:ln/>
        </p:spPr>
      </p:sp>
      <p:sp>
        <p:nvSpPr>
          <p:cNvPr id="20" name="Text 17"/>
          <p:cNvSpPr/>
          <p:nvPr/>
        </p:nvSpPr>
        <p:spPr>
          <a:xfrm>
            <a:off x="4032348" y="3311227"/>
            <a:ext cx="2932337" cy="137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Persistence không bao giờ phụ thuộc vào trạng thái kết nối của client. Message được lưu ngay khi server tiếp nhận, bất kể người nhận đang online hay offline.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32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Mất mạng &amp; Reconnect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12690"/>
            <a:ext cx="6903269" cy="31065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01329" y="2516391"/>
            <a:ext cx="1208068" cy="18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Disconnect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701329" y="2756185"/>
            <a:ext cx="1208068" cy="149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Mất kết nối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896122" y="4846295"/>
            <a:ext cx="1214706" cy="18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Reconnect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896122" y="5086089"/>
            <a:ext cx="1214706" cy="149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Mở lại WebSocket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077639" y="2493158"/>
            <a:ext cx="1208069" cy="18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Authenticate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77639" y="2732952"/>
            <a:ext cx="1208069" cy="149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Xác thực lại JWT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272432" y="4771618"/>
            <a:ext cx="1208069" cy="18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Subscribe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272432" y="5011413"/>
            <a:ext cx="1208069" cy="298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Khôi phục subscriptions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32251" y="2206427"/>
            <a:ext cx="35042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Reconnect ≠ just reopening WebSocket</a:t>
            </a:r>
            <a:endParaRPr lang="en-US" sz="18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92" y="3015456"/>
            <a:ext cx="283461" cy="2834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46499" y="3009602"/>
            <a:ext cx="288997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Re-authenticate with JWT</a:t>
            </a:r>
            <a:endParaRPr lang="en-US" sz="18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3092" y="3984030"/>
            <a:ext cx="283461" cy="2834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46499" y="3978176"/>
            <a:ext cx="28899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Restore subscriptions</a:t>
            </a:r>
            <a:endParaRPr lang="en-US" sz="18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3092" y="4934942"/>
            <a:ext cx="283461" cy="2834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46499" y="4929088"/>
            <a:ext cx="28899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Recover missed data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984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Message Sync sau Reconnect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67161"/>
            <a:ext cx="1524756" cy="942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54578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Vấn đề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954463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WebSocket chỉ nhận event khi client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connected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Khi bị gián đoạn kết nối, có thể xảy ra mất message.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367161"/>
            <a:ext cx="1524756" cy="9423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545780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Giải pháp: Last-known-state Sync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249738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nhớ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last known message state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reconnect → gọi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Sync/History API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backend truy vấn dữ liệu đã lưu → merge với local state.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367161"/>
            <a:ext cx="1524756" cy="9423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54578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Nguyên tắc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954463"/>
            <a:ext cx="3465426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REST/Sync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đảm bảo consistency.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WebSocket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đảm bảo realtime.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Hai kênh bổ trợ nhau — không thay thế nhau.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238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Duplicate Message – Vấn đề và hướng xử lý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015702"/>
            <a:ext cx="1086874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Flow vấn đề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1475" y="1385491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61475" y="1602184"/>
            <a:ext cx="5383375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709638"/>
            <a:ext cx="53833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Client gửi Message M1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46745" y="1385491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46745" y="1602184"/>
            <a:ext cx="5383475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9" name="Text 7"/>
          <p:cNvSpPr/>
          <p:nvPr/>
        </p:nvSpPr>
        <p:spPr>
          <a:xfrm>
            <a:off x="6146745" y="1709638"/>
            <a:ext cx="53834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Backend persist thành công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1475" y="2132509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1475" y="2349202"/>
            <a:ext cx="5383375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2456656"/>
            <a:ext cx="53833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Network gián đoạn trước khi client nhận ACK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46745" y="2132509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46745" y="2349202"/>
            <a:ext cx="5383475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5" name="Text 13"/>
          <p:cNvSpPr/>
          <p:nvPr/>
        </p:nvSpPr>
        <p:spPr>
          <a:xfrm>
            <a:off x="6146745" y="2456656"/>
            <a:ext cx="53834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Client nghĩ message chưa gửi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1475" y="2879527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1475" y="3096220"/>
            <a:ext cx="5383375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3203674"/>
            <a:ext cx="53833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Client retry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46745" y="2879527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06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46745" y="3096220"/>
            <a:ext cx="5383475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1" name="Text 19"/>
          <p:cNvSpPr/>
          <p:nvPr/>
        </p:nvSpPr>
        <p:spPr>
          <a:xfrm>
            <a:off x="6146745" y="3203674"/>
            <a:ext cx="53834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Nguy cơ: duplicate message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1475" y="3677543"/>
            <a:ext cx="1086874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Hướng xử lý idempotency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1475" y="4047331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1475" y="4264025"/>
            <a:ext cx="5383375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5" name="Text 23"/>
          <p:cNvSpPr/>
          <p:nvPr/>
        </p:nvSpPr>
        <p:spPr>
          <a:xfrm>
            <a:off x="661475" y="4371479"/>
            <a:ext cx="53833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Client tạo clientMessageId / requestId duy nhất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146745" y="4047331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46745" y="4264025"/>
            <a:ext cx="5383475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8" name="Text 26"/>
          <p:cNvSpPr/>
          <p:nvPr/>
        </p:nvSpPr>
        <p:spPr>
          <a:xfrm>
            <a:off x="6146745" y="4371479"/>
            <a:ext cx="53834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Backend kiểm tra trước khi persist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61475" y="4794349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1475" y="5011043"/>
            <a:ext cx="5383375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31" name="Text 29"/>
          <p:cNvSpPr/>
          <p:nvPr/>
        </p:nvSpPr>
        <p:spPr>
          <a:xfrm>
            <a:off x="661475" y="5118497"/>
            <a:ext cx="53833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Nếu chưa tồn tại → tạo message mới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146745" y="4794349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46745" y="5011043"/>
            <a:ext cx="5383475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34" name="Text 32"/>
          <p:cNvSpPr/>
          <p:nvPr/>
        </p:nvSpPr>
        <p:spPr>
          <a:xfrm>
            <a:off x="6146745" y="5118497"/>
            <a:ext cx="538347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Nếu đã tồn tại → trả lại message đã xử lý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61475" y="5554067"/>
            <a:ext cx="10868745" cy="455414"/>
          </a:xfrm>
          <a:prstGeom prst="roundRect">
            <a:avLst>
              <a:gd name="adj" fmla="val 4572"/>
            </a:avLst>
          </a:prstGeom>
          <a:solidFill>
            <a:srgbClr val="1D0C74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278" y="5702399"/>
            <a:ext cx="173430" cy="138807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112512" y="5690592"/>
            <a:ext cx="1088848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Đây là cơ chế thiết kế để xử lý retry an toàn; cần được áp dụng/kiểm chứng đầy đủ ở tầng persistence.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61475" y="6124079"/>
            <a:ext cx="1147833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Retry không được đồng nghĩa với tạo thêm dữ liệu.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Message Ordering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33152"/>
            <a:ext cx="58740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Vấn đề: Network arrival order ≠ Conversation order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1128018"/>
            <a:ext cx="6483585" cy="119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gửi 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M1 → M2 → M3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Do network latency hoặc reconnect, client có thể nhận event theo thứ tự 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M1 → M3 → M2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61475" y="1324471"/>
            <a:ext cx="5874000" cy="12700"/>
          </a:xfrm>
          <a:prstGeom prst="roundRect">
            <a:avLst>
              <a:gd name="adj" fmla="val 49999"/>
            </a:avLst>
          </a:prstGeom>
          <a:solidFill>
            <a:srgbClr val="D6D9D7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413867"/>
            <a:ext cx="58740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Giải pháp: Conversation order được xác định bằng server-side metadata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1475" y="1608733"/>
            <a:ext cx="648358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không đơn giản hiển thị theo thứ tự WebSocket event tới.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704341" y="885924"/>
            <a:ext cx="4900192" cy="1065312"/>
          </a:xfrm>
          <a:prstGeom prst="roundRect">
            <a:avLst>
              <a:gd name="adj" fmla="val 1331"/>
            </a:avLst>
          </a:prstGeom>
          <a:solidFill>
            <a:srgbClr val="0066FF"/>
          </a:solidFill>
          <a:ln/>
        </p:spPr>
      </p:sp>
      <p:sp>
        <p:nvSpPr>
          <p:cNvPr id="9" name="Text 7"/>
          <p:cNvSpPr/>
          <p:nvPr/>
        </p:nvSpPr>
        <p:spPr>
          <a:xfrm>
            <a:off x="6798795" y="933152"/>
            <a:ext cx="4711284" cy="814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UI không dựa vào thứ tự event tới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6798795" y="1795363"/>
            <a:ext cx="532086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Thứ tự hiển thị được quyết định bởi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server-side metadata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sau khi merge/sort lại các message.</a:t>
            </a:r>
            <a:endParaRPr lang="en-US" sz="7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4318"/>
            <a:ext cx="10868745" cy="477123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05207" y="5520859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Network Arrival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2505207" y="5899030"/>
            <a:ext cx="1905200" cy="353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Messages arrive out of order: M1, M3, M2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854423" y="5447580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Final UI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854423" y="5825751"/>
            <a:ext cx="1905200" cy="353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conversation as M1, M2, M3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195516" y="2504653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Merge &amp; Sort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5195516" y="2882824"/>
            <a:ext cx="1905200" cy="529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createdAt, messageId, or cursor to order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61475" y="6828631"/>
            <a:ext cx="3591430" cy="503634"/>
          </a:xfrm>
          <a:prstGeom prst="roundRect">
            <a:avLst>
              <a:gd name="adj" fmla="val 2815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628" y="6935787"/>
            <a:ext cx="33771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createdAt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68628" y="7111702"/>
            <a:ext cx="33771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 từ server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4300132" y="6828631"/>
            <a:ext cx="3591430" cy="503634"/>
          </a:xfrm>
          <a:prstGeom prst="roundRect">
            <a:avLst>
              <a:gd name="adj" fmla="val 2815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07286" y="6935787"/>
            <a:ext cx="33771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messageId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407286" y="7111702"/>
            <a:ext cx="33771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Dùng như một phần của metadata sắp xếp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7938790" y="6828631"/>
            <a:ext cx="3591430" cy="503634"/>
          </a:xfrm>
          <a:prstGeom prst="roundRect">
            <a:avLst>
              <a:gd name="adj" fmla="val 2815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45943" y="6935787"/>
            <a:ext cx="33771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cursor / ordering info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045943" y="7111702"/>
            <a:ext cx="33771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Server-provided sequence context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90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19807"/>
            <a:ext cx="6296860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Online Presence</a:t>
            </a:r>
            <a:endParaRPr lang="en-US" sz="2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825452"/>
            <a:ext cx="3982045" cy="17480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36994" y="4097627"/>
            <a:ext cx="698008" cy="107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Kết nối</a:t>
            </a:r>
            <a:endParaRPr lang="en-US" sz="650" dirty="0"/>
          </a:p>
        </p:txBody>
      </p:sp>
      <p:sp>
        <p:nvSpPr>
          <p:cNvPr id="6" name="Text 2"/>
          <p:cNvSpPr/>
          <p:nvPr/>
        </p:nvSpPr>
        <p:spPr>
          <a:xfrm>
            <a:off x="1336994" y="4236178"/>
            <a:ext cx="698008" cy="145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WebSocket mở và xác thực phiên</a:t>
            </a:r>
            <a:endParaRPr lang="en-US" sz="500" dirty="0"/>
          </a:p>
        </p:txBody>
      </p:sp>
      <p:sp>
        <p:nvSpPr>
          <p:cNvPr id="7" name="Text 3"/>
          <p:cNvSpPr/>
          <p:nvPr/>
        </p:nvSpPr>
        <p:spPr>
          <a:xfrm>
            <a:off x="3296786" y="3997969"/>
            <a:ext cx="698009" cy="107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Heartbeat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96786" y="4136520"/>
            <a:ext cx="698009" cy="218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 TTL; disconnect/timeout → offline</a:t>
            </a:r>
            <a:endParaRPr lang="en-US" sz="500" dirty="0"/>
          </a:p>
        </p:txBody>
      </p:sp>
      <p:sp>
        <p:nvSpPr>
          <p:cNvPr id="9" name="Text 5"/>
          <p:cNvSpPr/>
          <p:nvPr/>
        </p:nvSpPr>
        <p:spPr>
          <a:xfrm>
            <a:off x="2322643" y="3008760"/>
            <a:ext cx="698008" cy="107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Lưu Presence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2322643" y="3147310"/>
            <a:ext cx="698008" cy="218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 ghi userId,status,sessionId,lastSeenAt</a:t>
            </a:r>
            <a:endParaRPr lang="en-US" sz="500" dirty="0"/>
          </a:p>
        </p:txBody>
      </p:sp>
      <p:sp>
        <p:nvSpPr>
          <p:cNvPr id="11" name="Text 7"/>
          <p:cNvSpPr/>
          <p:nvPr/>
        </p:nvSpPr>
        <p:spPr>
          <a:xfrm>
            <a:off x="4966766" y="1149052"/>
            <a:ext cx="1997918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Redis là lựa chọn đúng cho Presence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6766" y="1655564"/>
            <a:ext cx="1997918" cy="9409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91888" y="1804491"/>
            <a:ext cx="162387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Realtime state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191888" y="2096790"/>
            <a:ext cx="1623873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Thay đổi liên tục, cần read/write cực nhanh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6766" y="2685852"/>
            <a:ext cx="1997918" cy="94099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91888" y="2834779"/>
            <a:ext cx="162387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Heartbeat TTL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5191888" y="3127077"/>
            <a:ext cx="1623873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Tự động expire khi client disconnect hoặc timeout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6766" y="3716139"/>
            <a:ext cx="1997918" cy="131941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91888" y="3865066"/>
            <a:ext cx="1623873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Không ghi xuống MySQL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5191888" y="4360366"/>
            <a:ext cx="1623873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Presence không cần durability — chỉ cần freshness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4966766" y="5136059"/>
            <a:ext cx="1997918" cy="1102717"/>
          </a:xfrm>
          <a:prstGeom prst="roundRect">
            <a:avLst>
              <a:gd name="adj" fmla="val 1768"/>
            </a:avLst>
          </a:prstGeom>
          <a:solidFill>
            <a:srgbClr val="1D0C74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6640" y="5277445"/>
            <a:ext cx="162417" cy="12987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88932" y="5248870"/>
            <a:ext cx="1445879" cy="877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Presence record: 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{userId, status, sessionId, lastSeenAt}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lưu trong Redis với TTL tự động.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157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Xác thực WebSocket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160661"/>
            <a:ext cx="10868745" cy="1273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Identity phải đến từ authenticated connection, không đến từ request payload.</a:t>
            </a:r>
            <a:endParaRPr lang="en-US" sz="4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37048"/>
            <a:ext cx="7050903" cy="30456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44035" y="4934664"/>
            <a:ext cx="1046914" cy="572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REST Authentication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32241" y="4799493"/>
            <a:ext cx="1046914" cy="381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STOMP CONNECT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32241" y="5235091"/>
            <a:ext cx="1046914" cy="271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Authorization: Bearer JWT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03269" y="3011866"/>
            <a:ext cx="1046914" cy="190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Login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33071" y="3011866"/>
            <a:ext cx="1046914" cy="381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WebSocketAuthInterceptor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04822" y="3011866"/>
            <a:ext cx="1046914" cy="381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JWT Access Token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1475" y="5912445"/>
            <a:ext cx="7660488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Rejection branch: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Missing JWT / Invalid JWT / Expired JWT → </a:t>
            </a:r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REJECT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078883" y="2722563"/>
            <a:ext cx="345758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Core principles</a:t>
            </a:r>
            <a:endParaRPr lang="en-US" sz="14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8883" y="3083024"/>
            <a:ext cx="3457588" cy="5640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21764" y="3249712"/>
            <a:ext cx="3048023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Don't trust userId from frontend</a:t>
            </a:r>
            <a:endParaRPr lang="en-US" sz="14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8883" y="3762375"/>
            <a:ext cx="3457588" cy="7947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764" y="3929062"/>
            <a:ext cx="3048023" cy="461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Identity determined from verified JWT</a:t>
            </a:r>
            <a:endParaRPr lang="en-US" sz="14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78883" y="4672409"/>
            <a:ext cx="3457588" cy="7947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21764" y="4839097"/>
            <a:ext cx="3048023" cy="461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Principal represents authenticated user in WebSocket session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8078883" y="5596930"/>
            <a:ext cx="3457588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Classes: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WebSocketConfig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WebSocketAuthInterceptor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JwtService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SecurityConfig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3446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Technical Focus Summary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61475" y="1629370"/>
            <a:ext cx="10868745" cy="2707580"/>
          </a:xfrm>
          <a:prstGeom prst="roundRect">
            <a:avLst>
              <a:gd name="adj" fmla="val 982"/>
            </a:avLst>
          </a:prstGeom>
          <a:solidFill>
            <a:srgbClr val="2D3133"/>
          </a:solidFill>
          <a:ln w="19050">
            <a:solidFill>
              <a:srgbClr val="6569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7725" y="1825625"/>
            <a:ext cx="1047624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Reliable Messaging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57725" y="2202160"/>
            <a:ext cx="10476246" cy="1938536"/>
          </a:xfrm>
          <a:prstGeom prst="rect">
            <a:avLst/>
          </a:prstGeom>
          <a:noFill/>
          <a:ln/>
        </p:spPr>
        <p:txBody>
          <a:bodyPr wrap="square" lIns="0" tIns="70882" rIns="0" bIns="0" rtlCol="0" anchor="t">
            <a:normAutofit/>
          </a:bodyPr>
          <a:lstStyle/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 lifecycle (SENT → DELIVERED → SEEN)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recovery &amp; persistence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Reconnect &amp; data synchronization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 ordering &amp; duplicate handling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presence management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WebSocket authentication &amp; security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1475" y="4586089"/>
            <a:ext cx="10868745" cy="1528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8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Các vấn đề trên là trọng tâm kỹ thuật được phát triển sâu trong dự án.</a:t>
            </a:r>
            <a:endParaRPr lang="en-US" sz="4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661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Social Core &amp; Supporting Features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55117"/>
            <a:ext cx="3539739" cy="237956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6204" y="1389261"/>
            <a:ext cx="230281" cy="2302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4012" y="1859558"/>
            <a:ext cx="319466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AUTH &amp; USER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834012" y="2174280"/>
            <a:ext cx="3194665" cy="488950"/>
          </a:xfrm>
          <a:prstGeom prst="rect">
            <a:avLst/>
          </a:prstGeom>
          <a:noFill/>
          <a:ln/>
        </p:spPr>
        <p:txBody>
          <a:bodyPr wrap="square" lIns="0" tIns="61431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25928" y="1255117"/>
            <a:ext cx="3539739" cy="2379563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80657" y="1389261"/>
            <a:ext cx="230281" cy="23028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498466" y="1859558"/>
            <a:ext cx="319466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RELATIONSHIP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4498466" y="2174280"/>
            <a:ext cx="3194665" cy="488950"/>
          </a:xfrm>
          <a:prstGeom prst="rect">
            <a:avLst/>
          </a:prstGeom>
          <a:noFill/>
          <a:ln/>
        </p:spPr>
        <p:txBody>
          <a:bodyPr wrap="square" lIns="0" tIns="61431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 Request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Friendship</a:t>
            </a:r>
            <a:endParaRPr lang="en-US" sz="1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90382" y="1255117"/>
            <a:ext cx="3539739" cy="2379563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45111" y="1389261"/>
            <a:ext cx="230281" cy="230287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162919" y="1859558"/>
            <a:ext cx="319466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CONTENT</a:t>
            </a:r>
            <a:endParaRPr lang="en-US" sz="1500" dirty="0"/>
          </a:p>
        </p:txBody>
      </p:sp>
      <p:sp>
        <p:nvSpPr>
          <p:cNvPr id="14" name="Text 6"/>
          <p:cNvSpPr/>
          <p:nvPr/>
        </p:nvSpPr>
        <p:spPr>
          <a:xfrm>
            <a:off x="8162919" y="2174280"/>
            <a:ext cx="3194665" cy="1287859"/>
          </a:xfrm>
          <a:prstGeom prst="rect">
            <a:avLst/>
          </a:prstGeom>
          <a:noFill/>
          <a:ln/>
        </p:spPr>
        <p:txBody>
          <a:bodyPr wrap="square" lIns="0" tIns="61431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Reaction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</a:t>
            </a:r>
            <a:endParaRPr lang="en-US" sz="12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3759398"/>
            <a:ext cx="3539739" cy="1846957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316204" y="3893542"/>
            <a:ext cx="230281" cy="230287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834012" y="4363839"/>
            <a:ext cx="319466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ENGAGEMENT</a:t>
            </a:r>
            <a:endParaRPr lang="en-US" sz="1500" dirty="0"/>
          </a:p>
        </p:txBody>
      </p:sp>
      <p:sp>
        <p:nvSpPr>
          <p:cNvPr id="18" name="Text 8"/>
          <p:cNvSpPr/>
          <p:nvPr/>
        </p:nvSpPr>
        <p:spPr>
          <a:xfrm>
            <a:off x="834012" y="4678561"/>
            <a:ext cx="3194665" cy="488950"/>
          </a:xfrm>
          <a:prstGeom prst="rect">
            <a:avLst/>
          </a:prstGeom>
          <a:noFill/>
          <a:ln/>
        </p:spPr>
        <p:txBody>
          <a:bodyPr wrap="square" lIns="0" tIns="61431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</a:t>
            </a:r>
            <a:endParaRPr lang="en-US" sz="12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25928" y="3759398"/>
            <a:ext cx="3539739" cy="1846957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80657" y="3893542"/>
            <a:ext cx="230281" cy="230287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4498466" y="4363839"/>
            <a:ext cx="319466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SAFETY &amp; ADMIN</a:t>
            </a:r>
            <a:endParaRPr lang="en-US" sz="1500" dirty="0"/>
          </a:p>
        </p:txBody>
      </p:sp>
      <p:sp>
        <p:nvSpPr>
          <p:cNvPr id="22" name="Text 10"/>
          <p:cNvSpPr/>
          <p:nvPr/>
        </p:nvSpPr>
        <p:spPr>
          <a:xfrm>
            <a:off x="4498466" y="4678561"/>
            <a:ext cx="3194665" cy="755253"/>
          </a:xfrm>
          <a:prstGeom prst="rect">
            <a:avLst/>
          </a:prstGeom>
          <a:noFill/>
          <a:ln/>
        </p:spPr>
        <p:txBody>
          <a:bodyPr wrap="square" lIns="0" tIns="61431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Moderation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Statistics</a:t>
            </a:r>
            <a:endParaRPr lang="en-US" sz="1200" dirty="0"/>
          </a:p>
        </p:txBody>
      </p:sp>
      <p:sp>
        <p:nvSpPr>
          <p:cNvPr id="23" name="Text 11"/>
          <p:cNvSpPr/>
          <p:nvPr/>
        </p:nvSpPr>
        <p:spPr>
          <a:xfrm>
            <a:off x="661475" y="5746651"/>
            <a:ext cx="10868745" cy="585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1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Core tạo nên hệ sinh thái.</a:t>
            </a:r>
            <a:endParaRPr lang="en-US" sz="1200" dirty="0"/>
          </a:p>
          <a:p>
            <a:pPr algn="ctr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Realtime Chat là trọng tâm kỹ thuật.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257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Demo Plan – Reliability &amp; Recovery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70720"/>
            <a:ext cx="2588453" cy="434826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0619" y="1631156"/>
            <a:ext cx="270166" cy="2701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6952" y="2208213"/>
            <a:ext cx="217749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CASE 01: NORMAL MESSAGE FLOW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866952" y="2874169"/>
            <a:ext cx="2177499" cy="245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Scenario: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online, B online. A sends → SENT → B receives → DELIVERED → B reads → SEEN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Expected: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Message states update correctly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Proving: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RELIABILITY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1572" y="1470720"/>
            <a:ext cx="2588453" cy="4348262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80716" y="1631156"/>
            <a:ext cx="270166" cy="27017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627049" y="2208213"/>
            <a:ext cx="217749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CASE 02: OFFLINE USER</a:t>
            </a:r>
            <a:endParaRPr lang="en-US" sz="1750" dirty="0"/>
          </a:p>
        </p:txBody>
      </p:sp>
      <p:sp>
        <p:nvSpPr>
          <p:cNvPr id="10" name="Text 4"/>
          <p:cNvSpPr/>
          <p:nvPr/>
        </p:nvSpPr>
        <p:spPr>
          <a:xfrm>
            <a:off x="3627049" y="2874169"/>
            <a:ext cx="2177499" cy="189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Scenario: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 offline. A sends. Backend persists. B returns → History/Sync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Expected: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message loss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Proving: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RECOVERY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81670" y="1470720"/>
            <a:ext cx="2588453" cy="4348262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40813" y="1631156"/>
            <a:ext cx="270166" cy="27017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387146" y="2208213"/>
            <a:ext cx="217749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CASE 03: NETWORK DISCONNECT</a:t>
            </a:r>
            <a:endParaRPr lang="en-US" sz="1750" dirty="0"/>
          </a:p>
        </p:txBody>
      </p:sp>
      <p:sp>
        <p:nvSpPr>
          <p:cNvPr id="14" name="Text 6"/>
          <p:cNvSpPr/>
          <p:nvPr/>
        </p:nvSpPr>
        <p:spPr>
          <a:xfrm>
            <a:off x="6387146" y="2874169"/>
            <a:ext cx="2177499" cy="245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Scenario: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 disconnects. A sends M2, M3. B reconnects → Authenticate → Subscribe → Sync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Expected: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Missed messages recovered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Proving: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RECOVERY</a:t>
            </a:r>
            <a:endParaRPr lang="en-US" sz="14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941767" y="1470720"/>
            <a:ext cx="2588453" cy="4348262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00911" y="1631156"/>
            <a:ext cx="270166" cy="270173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9147244" y="2208213"/>
            <a:ext cx="217749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CASE 04: SYNC AFTER RECONNECT</a:t>
            </a:r>
            <a:endParaRPr lang="en-US" sz="1750" dirty="0"/>
          </a:p>
        </p:txBody>
      </p:sp>
      <p:sp>
        <p:nvSpPr>
          <p:cNvPr id="18" name="Text 8"/>
          <p:cNvSpPr/>
          <p:nvPr/>
        </p:nvSpPr>
        <p:spPr>
          <a:xfrm>
            <a:off x="9147244" y="2874169"/>
            <a:ext cx="2177499" cy="2739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Scenario: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Client has last known state → Sync persisted messages → Merge local state → Resume realtime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Expected: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Client state becomes consistent again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Proving: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RECOVERY</a:t>
            </a:r>
            <a:endParaRPr lang="en-US" sz="1400" dirty="0"/>
          </a:p>
        </p:txBody>
      </p:sp>
      <p:sp>
        <p:nvSpPr>
          <p:cNvPr id="19" name="Text 9"/>
          <p:cNvSpPr/>
          <p:nvPr/>
        </p:nvSpPr>
        <p:spPr>
          <a:xfrm>
            <a:off x="356682" y="6012160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Focus: Reliability + Recovery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204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Demo Plan – Consistency &amp; Security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85987"/>
            <a:ext cx="2596688" cy="450324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9151" y="1535609"/>
            <a:ext cx="261336" cy="2613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4748" y="2088356"/>
            <a:ext cx="2210142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CASE 05: DUPLICATE / RETRY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854748" y="2729012"/>
            <a:ext cx="2210142" cy="2431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Scenario:</a:t>
            </a:r>
            <a:pPr algn="l" indent="0" marL="0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Client retries logical message</a:t>
            </a:r>
            <a:endParaRPr lang="en-US" sz="1350" dirty="0"/>
          </a:p>
          <a:p>
            <a:pPr algn="l" indent="0" marL="0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Expected:</a:t>
            </a:r>
            <a:pPr algn="l" indent="0" marL="0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Avoid duplicate message in user experience</a:t>
            </a:r>
            <a:endParaRPr lang="en-US" sz="1350" dirty="0"/>
          </a:p>
          <a:p>
            <a:pPr algn="l" indent="0" marL="0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006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Proving: CONSISTENCY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approach / test case to be verified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8794" y="1385987"/>
            <a:ext cx="2596688" cy="4503241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86470" y="1535609"/>
            <a:ext cx="261336" cy="26134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612067" y="2088356"/>
            <a:ext cx="2210142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CASE 06: MESSAGE ORDERING</a:t>
            </a:r>
            <a:endParaRPr lang="en-US" sz="1700" dirty="0"/>
          </a:p>
        </p:txBody>
      </p:sp>
      <p:sp>
        <p:nvSpPr>
          <p:cNvPr id="10" name="Text 4"/>
          <p:cNvSpPr/>
          <p:nvPr/>
        </p:nvSpPr>
        <p:spPr>
          <a:xfrm>
            <a:off x="3612067" y="2729012"/>
            <a:ext cx="2210142" cy="2966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Scenario:</a:t>
            </a:r>
            <a:pPr algn="l" indent="0" marL="0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Send M1 → M2 → M3 → M4 → M5. After realtime/reconnect/sync</a:t>
            </a:r>
            <a:endParaRPr lang="en-US" sz="1350" dirty="0"/>
          </a:p>
          <a:p>
            <a:pPr algn="l" indent="0" marL="0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Expected:</a:t>
            </a:r>
            <a:pPr algn="l" indent="0" marL="0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M1 → M2 → M3 → M4 → M5 (correct order)</a:t>
            </a:r>
            <a:endParaRPr lang="en-US" sz="1350" dirty="0"/>
          </a:p>
          <a:p>
            <a:pPr algn="l" indent="0" marL="0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006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Proving: CONSISTENCY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b="1" i="1" dirty="0">
                <a:solidFill>
                  <a:srgbClr val="006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Note: Network arrival order ≠ Conversation order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76113" y="1385987"/>
            <a:ext cx="2596688" cy="4503241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43790" y="1535609"/>
            <a:ext cx="261336" cy="261342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369387" y="2088356"/>
            <a:ext cx="2210142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CASE 07: ONLINE PRESENCE</a:t>
            </a:r>
            <a:endParaRPr lang="en-US" sz="1700" dirty="0"/>
          </a:p>
        </p:txBody>
      </p:sp>
      <p:sp>
        <p:nvSpPr>
          <p:cNvPr id="14" name="Text 6"/>
          <p:cNvSpPr/>
          <p:nvPr/>
        </p:nvSpPr>
        <p:spPr>
          <a:xfrm>
            <a:off x="6369387" y="2729012"/>
            <a:ext cx="2210142" cy="260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Scenario:</a:t>
            </a:r>
            <a:pPr algn="l" indent="0" marL="0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Connect → ONLINE. Heartbeat → active. Disconnect/timeout → OFFLINE</a:t>
            </a:r>
            <a:endParaRPr lang="en-US" sz="1350" dirty="0"/>
          </a:p>
          <a:p>
            <a:pPr algn="l" indent="0" marL="0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Expected:</a:t>
            </a:r>
            <a:pPr algn="l" indent="0" marL="0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Presence state reflects real connection state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6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Proving: Real-time status accuracy</a:t>
            </a:r>
            <a:endParaRPr lang="en-US" sz="13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933433" y="1385987"/>
            <a:ext cx="2596787" cy="4503241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01109" y="1535609"/>
            <a:ext cx="261336" cy="261342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9126706" y="2088356"/>
            <a:ext cx="2210241" cy="816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CASE 08: WEBSOCKET AUTHENTICATION</a:t>
            </a:r>
            <a:endParaRPr lang="en-US" sz="1700" dirty="0"/>
          </a:p>
        </p:txBody>
      </p:sp>
      <p:sp>
        <p:nvSpPr>
          <p:cNvPr id="18" name="Text 8"/>
          <p:cNvSpPr/>
          <p:nvPr/>
        </p:nvSpPr>
        <p:spPr>
          <a:xfrm>
            <a:off x="9126706" y="3001169"/>
            <a:ext cx="2210241" cy="260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Scenario:</a:t>
            </a:r>
            <a:pPr algn="l" indent="0" marL="0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Valid JWT → CONNECT allowed. Missing/invalid/expired JWT → REJECT</a:t>
            </a:r>
            <a:endParaRPr lang="en-US" sz="1350" dirty="0"/>
          </a:p>
          <a:p>
            <a:pPr algn="l" indent="0" marL="0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Expected:</a:t>
            </a:r>
            <a:pPr algn="l" indent="0" marL="0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Only authenticated users can establish authorized WebSocket sessions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6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Proving: SECURITY</a:t>
            </a:r>
            <a:endParaRPr lang="en-US" sz="1350" dirty="0"/>
          </a:p>
        </p:txBody>
      </p:sp>
      <p:sp>
        <p:nvSpPr>
          <p:cNvPr id="19" name="Text 9"/>
          <p:cNvSpPr/>
          <p:nvPr/>
        </p:nvSpPr>
        <p:spPr>
          <a:xfrm>
            <a:off x="356682" y="6069905"/>
            <a:ext cx="1147833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D6D9D7"/>
                </a:solidFill>
                <a:highlight>
                  <a:srgbClr val="0066FF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Focus: Consistency + Security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7480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Reliable Realtime Chat – Kết luận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61475" y="1503263"/>
            <a:ext cx="392003" cy="392013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726759" y="1535857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214109" y="1563092"/>
            <a:ext cx="478133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RELIABILITY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14109" y="1931591"/>
            <a:ext cx="4781331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 → DELIVERED → SEEN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6155" y="1503263"/>
            <a:ext cx="392003" cy="392013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8" name="Text 6"/>
          <p:cNvSpPr/>
          <p:nvPr/>
        </p:nvSpPr>
        <p:spPr>
          <a:xfrm>
            <a:off x="6261439" y="1535857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748790" y="1563092"/>
            <a:ext cx="478143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RECOVERY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48790" y="1931591"/>
            <a:ext cx="478143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→ Reconnect → Sync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1475" y="2520652"/>
            <a:ext cx="392003" cy="392013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2" name="Text 10"/>
          <p:cNvSpPr/>
          <p:nvPr/>
        </p:nvSpPr>
        <p:spPr>
          <a:xfrm>
            <a:off x="726759" y="2553246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1214109" y="2580481"/>
            <a:ext cx="478133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CONSISTENCY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14109" y="2948980"/>
            <a:ext cx="4781331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Ordering → Duplicate Handling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96155" y="2520652"/>
            <a:ext cx="392003" cy="392013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6" name="Text 14"/>
          <p:cNvSpPr/>
          <p:nvPr/>
        </p:nvSpPr>
        <p:spPr>
          <a:xfrm>
            <a:off x="6261439" y="2553246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6748790" y="2580481"/>
            <a:ext cx="478143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SECURITY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48790" y="2948980"/>
            <a:ext cx="478143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Authentication → Presence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1475" y="3457674"/>
            <a:ext cx="10868745" cy="2254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WebSocket solves realtime transport.</a:t>
            </a:r>
            <a:endParaRPr lang="en-US" sz="47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4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engineering challenge is reliability, recovery, consistency and security.</a:t>
            </a:r>
            <a:endParaRPr lang="en-US" sz="4700" dirty="0"/>
          </a:p>
        </p:txBody>
      </p:sp>
      <p:sp>
        <p:nvSpPr>
          <p:cNvPr id="20" name="Text 18"/>
          <p:cNvSpPr/>
          <p:nvPr/>
        </p:nvSpPr>
        <p:spPr>
          <a:xfrm>
            <a:off x="356682" y="5952728"/>
            <a:ext cx="1147833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Messaging là trọng tâm kỹ thuật của dự án.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47577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CẢM ƠN ĐÃ LẮNG NGHE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661475" y="31462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475" y="381248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Questions &amp; Discussion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356682" y="4568428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Core &amp; Reliable Realtime Messaging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2026-08-27T04:36:24Z</dcterms:created>
  <dcterms:modified xsi:type="dcterms:W3CDTF">2026-08-27T04:36:24Z</dcterms:modified>
</cp:coreProperties>
</file>